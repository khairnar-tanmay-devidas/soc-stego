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heme/theme5.xml" ContentType="application/vnd.openxmlformats-officedocument.them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8"/>
  </p:notesMasterIdLst>
  <p:sldIdLst>
    <p:sldId id="265" r:id="rId5"/>
    <p:sldId id="266" r:id="rId6"/>
    <p:sldId id="267" r:id="rId7"/>
    <p:sldId id="268" r:id="rId8"/>
    <p:sldId id="269" r:id="rId9"/>
    <p:sldId id="270" r:id="rId10"/>
    <p:sldId id="271" r:id="rId11"/>
    <p:sldId id="278" r:id="rId12"/>
    <p:sldId id="279" r:id="rId13"/>
    <p:sldId id="284" r:id="rId14"/>
    <p:sldId id="275" r:id="rId15"/>
    <p:sldId id="28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53160-37EC-4D26-AF9F-9775BCEC3334}" v="88" dt="2026-04-29T01:59:22.553"/>
    <p1510:client id="{7EB844B3-1C58-4989-A9E2-FB968ECDE817}" v="97" dt="2026-04-29T02:23:57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7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9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7" Type="http://schemas.openxmlformats.org/officeDocument/2006/relationships/image" Target="../media/image6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93.xml"/><Relationship Id="rId4" Type="http://schemas.openxmlformats.org/officeDocument/2006/relationships/tags" Target="../tags/tag9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9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1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image" Target="../media/image8.png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58.xml"/><Relationship Id="rId4" Type="http://schemas.openxmlformats.org/officeDocument/2006/relationships/tags" Target="../tags/tag157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image" Target="../media/image8.pn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slideMaster" Target="../slideMasters/slideMaster4.xml"/><Relationship Id="rId5" Type="http://schemas.openxmlformats.org/officeDocument/2006/relationships/tags" Target="../tags/tag16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9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8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9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98.xml"/><Relationship Id="rId4" Type="http://schemas.openxmlformats.org/officeDocument/2006/relationships/tags" Target="../tags/tag197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image" Target="../media/image8.png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slideMaster" Target="../slideMasters/slideMaster4.xml"/><Relationship Id="rId5" Type="http://schemas.openxmlformats.org/officeDocument/2006/relationships/tags" Target="../tags/tag203.xml"/><Relationship Id="rId10" Type="http://schemas.openxmlformats.org/officeDocument/2006/relationships/tags" Target="../tags/tag208.xml"/><Relationship Id="rId4" Type="http://schemas.openxmlformats.org/officeDocument/2006/relationships/tags" Target="../tags/tag202.xml"/><Relationship Id="rId9" Type="http://schemas.openxmlformats.org/officeDocument/2006/relationships/tags" Target="../tags/tag20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1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1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1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1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1028065" y="474345"/>
            <a:ext cx="8657590" cy="28486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28700" y="3373755"/>
            <a:ext cx="7196455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1028700" y="4257675"/>
            <a:ext cx="4262120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>
                <a:latin typeface="+mn-lt"/>
                <a:sym typeface="+mn-ea"/>
              </a:rPr>
              <a:t>Click to add text</a:t>
            </a:r>
            <a:endParaRPr 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3" hasCustomPrompt="1"/>
            <p:custDataLst>
              <p:tags r:id="rId5"/>
            </p:custDataLst>
          </p:nvPr>
        </p:nvSpPr>
        <p:spPr>
          <a:xfrm>
            <a:off x="608013" y="1493838"/>
            <a:ext cx="10969625" cy="4538662"/>
          </a:xfrm>
        </p:spPr>
        <p:txBody>
          <a:bodyPr vert="horz" lIns="91440" tIns="45720" rIns="91440" bIns="45720" rtlCol="0">
            <a:normAutofit/>
          </a:bodyPr>
          <a:lstStyle>
            <a:lvl1pPr eaLnBrk="1" fontAlgn="auto" latinLnBrk="0" hangingPunct="1">
              <a:defRPr lang="en-US" u="none" strike="noStrike" kern="1200" cap="none" spc="0" normalizeH="0" dirty="0" smtClean="0">
                <a:solidFill>
                  <a:schemeClr val="tx1"/>
                </a:solidFill>
                <a:uFillTx/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dirty="0" smtClean="0">
                <a:latin typeface="+mn-lt"/>
              </a:defRPr>
            </a:lvl3pPr>
            <a:lvl4pPr>
              <a:defRPr 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1217295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985520" y="473710"/>
            <a:ext cx="5958205" cy="108077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82475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838200" y="1040130"/>
            <a:ext cx="8346440" cy="395160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1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1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2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08330" y="1313815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l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28700" y="1566545"/>
            <a:ext cx="7196455" cy="21913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28700" y="3963670"/>
            <a:ext cx="4578350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>
                <a:sym typeface="+mn-ea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4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70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69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68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134.xml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13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132.xml"/><Relationship Id="rId10" Type="http://schemas.openxmlformats.org/officeDocument/2006/relationships/slideLayout" Target="../slideLayouts/slideLayout43.xml"/><Relationship Id="rId19" Type="http://schemas.openxmlformats.org/officeDocument/2006/relationships/tags" Target="../tags/tag1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3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4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R="0" lvl="2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R="0" lvl="3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R="0" lvl="4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j-ea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image" Target="../media/image9.png"/><Relationship Id="rId5" Type="http://schemas.openxmlformats.org/officeDocument/2006/relationships/tags" Target="../tags/tag213.xml"/><Relationship Id="rId10" Type="http://schemas.openxmlformats.org/officeDocument/2006/relationships/slideLayout" Target="../slideLayouts/slideLayout41.xml"/><Relationship Id="rId4" Type="http://schemas.openxmlformats.org/officeDocument/2006/relationships/tags" Target="../tags/tag212.xml"/><Relationship Id="rId9" Type="http://schemas.openxmlformats.org/officeDocument/2006/relationships/tags" Target="../tags/tag2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53" b="85885"/>
          <a:stretch>
            <a:fillRect/>
          </a:stretch>
        </p:blipFill>
        <p:spPr>
          <a:xfrm>
            <a:off x="0" y="0"/>
            <a:ext cx="12192000" cy="121447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3547427" y="1646565"/>
            <a:ext cx="529399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3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B.E PROJECT STAGE -II</a:t>
            </a:r>
            <a:r>
              <a:rPr lang="en-US" altLang="en-GB" sz="3200" b="1">
                <a:solidFill>
                  <a:schemeClr val="tx1"/>
                </a:solidFill>
                <a:cs typeface="Times New Roman" panose="02020603050405020304" charset="0"/>
              </a:rPr>
              <a:t> </a:t>
            </a:r>
          </a:p>
        </p:txBody>
      </p:sp>
      <p:sp>
        <p:nvSpPr>
          <p:cNvPr id="7" name="Text Box 6"/>
          <p:cNvSpPr txBox="1"/>
          <p:nvPr>
            <p:custDataLst>
              <p:tags r:id="rId4"/>
            </p:custDataLst>
          </p:nvPr>
        </p:nvSpPr>
        <p:spPr>
          <a:xfrm>
            <a:off x="1587500" y="2567940"/>
            <a:ext cx="9548437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fontScale="97500"/>
          </a:bodyPr>
          <a:lstStyle/>
          <a:p>
            <a:r>
              <a:rPr lang="en-US" altLang="en-GB" sz="2400" b="1">
                <a:solidFill>
                  <a:schemeClr val="accent1"/>
                </a:solidFill>
                <a:cs typeface="Times New Roman"/>
              </a:rPr>
              <a:t> </a:t>
            </a:r>
            <a:r>
              <a:rPr lang="en-US" altLang="en-GB" sz="2400" b="1">
                <a:solidFill>
                  <a:schemeClr val="accent1"/>
                </a:solidFill>
                <a:ea typeface="+mn-lt"/>
                <a:cs typeface="Times New Roman"/>
              </a:rPr>
              <a:t>               SOC-Grade Image Steganography Detection Tool</a:t>
            </a:r>
          </a:p>
        </p:txBody>
      </p:sp>
      <p:sp>
        <p:nvSpPr>
          <p:cNvPr id="10" name="Text Box 9"/>
          <p:cNvSpPr txBox="1"/>
          <p:nvPr>
            <p:custDataLst>
              <p:tags r:id="rId5"/>
            </p:custDataLst>
          </p:nvPr>
        </p:nvSpPr>
        <p:spPr>
          <a:xfrm>
            <a:off x="557530" y="4448175"/>
            <a:ext cx="4332605" cy="2075180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endParaRPr lang="en-US" altLang="en-GB" sz="2000" b="1">
              <a:solidFill>
                <a:schemeClr val="tx1"/>
              </a:solidFill>
              <a:cs typeface="Times New Roman" panose="02020603050405020304" charset="0"/>
            </a:endParaRPr>
          </a:p>
          <a:p>
            <a:r>
              <a:rPr lang="en-US" altLang="en-GB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r>
              <a:rPr lang="en-US" altLang="en-GB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</a:t>
            </a:r>
          </a:p>
          <a:p>
            <a:r>
              <a:rPr lang="en-US" altLang="en-GB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</a:t>
            </a:r>
          </a:p>
          <a:p>
            <a:r>
              <a:rPr lang="en-US" altLang="en-GB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1) Tanmay Devidas Khairnar           (27)</a:t>
            </a:r>
          </a:p>
          <a:p>
            <a:r>
              <a:rPr lang="en-US" altLang="en-GB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2) Ritesh </a:t>
            </a:r>
            <a:r>
              <a:rPr lang="en-US" altLang="en-GB" b="1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Rajendrasingh</a:t>
            </a:r>
            <a:r>
              <a:rPr lang="en-US" altLang="en-GB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Pardeshi   (41)</a:t>
            </a:r>
          </a:p>
          <a:p>
            <a:endParaRPr lang="en-US" altLang="en-GB" b="1">
              <a:solidFill>
                <a:schemeClr val="tx1"/>
              </a:solidFill>
              <a:cs typeface="Times New Roman" panose="02020603050405020304" charset="0"/>
            </a:endParaRPr>
          </a:p>
          <a:p>
            <a:endParaRPr lang="en-US" altLang="en-GB" b="1">
              <a:solidFill>
                <a:schemeClr val="tx1"/>
              </a:solidFill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>
            <p:custDataLst>
              <p:tags r:id="rId6"/>
            </p:custDataLst>
          </p:nvPr>
        </p:nvSpPr>
        <p:spPr>
          <a:xfrm>
            <a:off x="7666355" y="4530626"/>
            <a:ext cx="3918643" cy="12604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en-GB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Guide :-</a:t>
            </a:r>
          </a:p>
          <a:p>
            <a:endParaRPr lang="en-US" altLang="en-GB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Prof. Ranjeet Pathak</a:t>
            </a:r>
          </a:p>
          <a:p>
            <a:endParaRPr lang="en-US" altLang="en-GB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>
            <p:custDataLst>
              <p:tags r:id="rId7"/>
            </p:custDataLst>
          </p:nvPr>
        </p:nvSpPr>
        <p:spPr>
          <a:xfrm>
            <a:off x="4329430" y="6248400"/>
            <a:ext cx="4064000" cy="583565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r>
              <a:rPr lang="en-US" altLang="en-GB" sz="1600" b="1">
                <a:solidFill>
                  <a:schemeClr val="tx1"/>
                </a:solidFill>
                <a:cs typeface="Times New Roman" panose="02020603050405020304" charset="0"/>
              </a:rPr>
              <a:t>    </a:t>
            </a:r>
            <a:r>
              <a:rPr lang="en-US" altLang="en-GB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B.E E&amp;TC Engineering </a:t>
            </a:r>
          </a:p>
          <a:p>
            <a:r>
              <a:rPr lang="en-US" altLang="en-GB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(2025-2026)</a:t>
            </a:r>
            <a:r>
              <a:rPr lang="en-US" altLang="en-GB" sz="1600" b="1">
                <a:solidFill>
                  <a:schemeClr val="tx1"/>
                </a:solidFill>
                <a:cs typeface="Times New Roman" panose="02020603050405020304" charset="0"/>
              </a:rPr>
              <a:t>           </a:t>
            </a:r>
          </a:p>
        </p:txBody>
      </p:sp>
      <p:sp>
        <p:nvSpPr>
          <p:cNvPr id="3" name="TextBox 2"/>
          <p:cNvSpPr txBox="1"/>
          <p:nvPr>
            <p:custDataLst>
              <p:tags r:id="rId8"/>
            </p:custDataLst>
          </p:nvPr>
        </p:nvSpPr>
        <p:spPr>
          <a:xfrm>
            <a:off x="4526280" y="3429000"/>
            <a:ext cx="314007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Group No. 24 </a:t>
            </a:r>
          </a:p>
        </p:txBody>
      </p:sp>
      <p:sp>
        <p:nvSpPr>
          <p:cNvPr id="5" name="TextBox 4"/>
          <p:cNvSpPr txBox="1"/>
          <p:nvPr>
            <p:custDataLst>
              <p:tags r:id="rId9"/>
            </p:custDataLst>
          </p:nvPr>
        </p:nvSpPr>
        <p:spPr>
          <a:xfrm>
            <a:off x="730328" y="4206683"/>
            <a:ext cx="281709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Domain</a:t>
            </a: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: - Cyber security,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5E0A-DBC6-7DFE-94F4-EBFDDB84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 </a:t>
            </a:r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The Critical Blindspot in Cyber Security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5747-8611-DD54-AE67-653C9569F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 Corporate firewalls scan the "outside" of files (headers/extensions).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 Hackers are adapting by hiding malicious code *inside* approved media.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 Traditional Antiviruses pass infected images as "Safe".</a:t>
            </a:r>
            <a:endParaRPr lang="en-US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7475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F70F-E640-66B7-6F90-8D290061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Hiding in Plain Sight</a:t>
            </a:r>
            <a:endParaRPr lang="en-US"/>
          </a:p>
          <a:p>
            <a:endParaRPr lang="en-US">
              <a:gradFill>
                <a:gsLst>
                  <a:gs pos="0">
                    <a:srgbClr val="E65235">
                      <a:lumMod val="70000"/>
                      <a:lumOff val="30000"/>
                    </a:srgbClr>
                  </a:gs>
                  <a:gs pos="35000">
                    <a:srgbClr val="E65235"/>
                  </a:gs>
                  <a:gs pos="100000">
                    <a:srgbClr val="E03835"/>
                  </a:gs>
                </a:gsLst>
                <a:lin ang="3000000" scaled="0"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C5B5A-9C77-4228-B9CC-BA601B247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    Derived from Greek: *</a:t>
            </a:r>
            <a:r>
              <a:rPr lang="en-US" err="1">
                <a:ea typeface="+mn-lt"/>
                <a:cs typeface="+mn-lt"/>
              </a:rPr>
              <a:t>Steganos</a:t>
            </a:r>
            <a:r>
              <a:rPr lang="en-US">
                <a:ea typeface="+mn-lt"/>
                <a:cs typeface="+mn-lt"/>
              </a:rPr>
              <a:t>* (Hidden) and *</a:t>
            </a:r>
            <a:r>
              <a:rPr lang="en-US" err="1">
                <a:ea typeface="+mn-lt"/>
                <a:cs typeface="+mn-lt"/>
              </a:rPr>
              <a:t>Graphien</a:t>
            </a:r>
            <a:r>
              <a:rPr lang="en-US">
                <a:ea typeface="+mn-lt"/>
                <a:cs typeface="+mn-lt"/>
              </a:rPr>
              <a:t>* (Writing).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    The practice of burying secret data within normal, digital pixels.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It bypasses visual detection (the human eye cannot see the difference).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7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047A-EDDE-32AE-3DF6-E50D2989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The Three Pillars of the Project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E8983-E083-9DAC-F9DC-E2ADF9008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Lato"/>
                <a:cs typeface="Lato"/>
              </a:rPr>
              <a:t>The Front-End (GUI):A highly responsive user dashboard built in Python </a:t>
            </a:r>
            <a:r>
              <a:rPr lang="en-US" err="1">
                <a:ea typeface="Lato"/>
                <a:cs typeface="Lato"/>
              </a:rPr>
              <a:t>Tki</a:t>
            </a:r>
            <a:r>
              <a:rPr lang="en-US" err="1">
                <a:ea typeface="+mn-lt"/>
                <a:cs typeface="+mn-lt"/>
              </a:rPr>
              <a:t>nter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The Back-End (Engine):A powerful mathematical analysis engine (`image_stego_engine.py`).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 The Bridge (Threading):Asynchronous background workers to prevent system freezing.</a:t>
            </a:r>
            <a:endParaRPr lang="en-US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208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EF39B-477C-E329-CBA7-F94364CE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Least Significant Bit (LSB) Extraction</a:t>
            </a:r>
            <a:endParaRPr lang="en-US"/>
          </a:p>
          <a:p>
            <a:endParaRPr lang="en-US">
              <a:gradFill>
                <a:gsLst>
                  <a:gs pos="0">
                    <a:srgbClr val="E65235">
                      <a:lumMod val="70000"/>
                      <a:lumOff val="30000"/>
                    </a:srgbClr>
                  </a:gs>
                  <a:gs pos="35000">
                    <a:srgbClr val="E65235"/>
                  </a:gs>
                  <a:gs pos="100000">
                    <a:srgbClr val="E03835"/>
                  </a:gs>
                </a:gsLst>
                <a:lin ang="3000000" scaled="0"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790E-0277-9CBB-F048-1F8608C19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Images consist of RGB (Red, Green, Blue) pixels.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The tool targets the "8th bit" of each color value.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It rips out these hidden 1s and 0s and reassembles the hacker's original message.</a:t>
            </a:r>
            <a:endParaRPr lang="en-US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8811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2385-3497-921F-5AD2-C13E8CEB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"EOF" Marker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F77B-73A0-24EF-C347-FFCA050D3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Extracting bits carelessly results in digital garbage.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Our algorithm hunts for a 16-bit signature: `End of File (EOF)`.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Once found, extraction stops securely.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3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A4EC-C34F-99DE-5659-BCADCB94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Shannon Entropy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5AADA-BEB4-A8C5-FDB4-333C94FB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Advanced hackers delete EOF signatures to avoid detection.</a:t>
            </a:r>
          </a:p>
          <a:p>
            <a:r>
              <a:rPr lang="en-US">
                <a:ea typeface="+mn-lt"/>
                <a:cs typeface="+mn-lt"/>
              </a:rPr>
              <a:t>To counter this, we integrated **Claude Shannon’s Entropy Theory**.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Mathematical Chaos: Encrypted payloads yield massive entropy scores (&gt;= 7.5).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7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4A82-DCAA-9A7C-27FB-366A044C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A Professional Analyst Dashboard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4F78-FF02-F98C-719F-43F5BB072D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Lato"/>
                <a:cs typeface="Lato"/>
              </a:rPr>
              <a:t>Instant visual alerts (Green = </a:t>
            </a:r>
            <a:endParaRPr lang="en-US"/>
          </a:p>
          <a:p>
            <a:pPr marL="0" indent="0">
              <a:buNone/>
            </a:pPr>
            <a:r>
              <a:rPr lang="en-US">
                <a:ea typeface="Lato"/>
                <a:cs typeface="Lato"/>
              </a:rPr>
              <a:t>   Clean, Red = Critical Threat).</a:t>
            </a:r>
          </a:p>
          <a:p>
            <a:r>
              <a:rPr lang="en-US">
                <a:ea typeface="Lato"/>
                <a:cs typeface="Lato"/>
              </a:rPr>
              <a:t>Provides exact Pixel Dimensions, File Hashes, and the Extracted Payload Text.</a:t>
            </a:r>
          </a:p>
          <a:p>
            <a:r>
              <a:rPr lang="en-US">
                <a:ea typeface="Lato"/>
                <a:cs typeface="Lato"/>
              </a:rPr>
              <a:t>Two Modes: "Single Targeted Analysis" and "Batch Radar Analysis".</a:t>
            </a:r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0724E2-54CB-1FFF-8E39-9FE0D36437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7510" y="1301750"/>
            <a:ext cx="4301798" cy="4875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6173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517C-6FC9-5A77-434B-99B2E712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Built to Handle Stress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F590-09D0-71BC-C7DB-DB8758C377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Lato"/>
                <a:cs typeface="Lato"/>
              </a:rPr>
              <a:t>Processing 5,000 images on a main </a:t>
            </a:r>
            <a:endParaRPr lang="en-US"/>
          </a:p>
          <a:p>
            <a:pPr marL="0" indent="0">
              <a:buNone/>
            </a:pPr>
            <a:r>
              <a:rPr lang="en-US">
                <a:ea typeface="Lato"/>
                <a:cs typeface="Lato"/>
              </a:rPr>
              <a:t>   UI thread causes freezing.</a:t>
            </a:r>
          </a:p>
          <a:p>
            <a:r>
              <a:rPr lang="en-US">
                <a:ea typeface="Lato"/>
                <a:cs typeface="Lato"/>
              </a:rPr>
              <a:t>We built a "Dual-Lane" processing system using `</a:t>
            </a:r>
            <a:r>
              <a:rPr lang="en-US" err="1">
                <a:ea typeface="Lato"/>
                <a:cs typeface="Lato"/>
              </a:rPr>
              <a:t>concurrent.futures</a:t>
            </a:r>
            <a:r>
              <a:rPr lang="en-US">
                <a:ea typeface="Lato"/>
                <a:cs typeface="Lato"/>
              </a:rPr>
              <a:t>`.</a:t>
            </a:r>
          </a:p>
          <a:p>
            <a:r>
              <a:rPr lang="en-US">
                <a:ea typeface="Lato"/>
                <a:cs typeface="Lato"/>
              </a:rPr>
              <a:t>The GUI delegates heavy math to invisible background workers</a:t>
            </a:r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BFEAE-B112-C9B4-7222-66A9189F2B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05199"/>
            <a:ext cx="5323840" cy="44761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81420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23D4-FA46-9887-A714-9421518F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The VirusTotal API Integration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F4224-740B-4D5A-C9E9-F2833D72D4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Lato"/>
                <a:cs typeface="Lato"/>
              </a:rPr>
              <a:t>Extracting a script is great, but </a:t>
            </a:r>
          </a:p>
          <a:p>
            <a:pPr marL="0" indent="0">
              <a:buNone/>
            </a:pPr>
            <a:r>
              <a:rPr lang="en-US">
                <a:ea typeface="Lato"/>
                <a:cs typeface="Lato"/>
              </a:rPr>
              <a:t>   proving </a:t>
            </a:r>
            <a:r>
              <a:rPr lang="en-US" err="1">
                <a:ea typeface="Lato"/>
                <a:cs typeface="Lato"/>
              </a:rPr>
              <a:t>it's</a:t>
            </a:r>
            <a:r>
              <a:rPr lang="en-US">
                <a:ea typeface="Lato"/>
                <a:cs typeface="Lato"/>
              </a:rPr>
              <a:t> a virus requires validation.</a:t>
            </a:r>
          </a:p>
          <a:p>
            <a:r>
              <a:rPr lang="en-US">
                <a:ea typeface="Lato"/>
                <a:cs typeface="Lato"/>
              </a:rPr>
              <a:t>The tool connects securely via API to </a:t>
            </a:r>
            <a:r>
              <a:rPr lang="en-US" err="1">
                <a:ea typeface="Lato"/>
                <a:cs typeface="Lato"/>
              </a:rPr>
              <a:t>VirusTotal's</a:t>
            </a:r>
            <a:r>
              <a:rPr lang="en-US">
                <a:ea typeface="Lato"/>
                <a:cs typeface="Lato"/>
              </a:rPr>
              <a:t> 94 global engines.</a:t>
            </a:r>
          </a:p>
          <a:p>
            <a:r>
              <a:rPr lang="en-US">
                <a:ea typeface="Lato"/>
                <a:cs typeface="Lato"/>
              </a:rPr>
              <a:t>Provides instant, real-world threat scoring.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D9778E-8022-73C4-3041-4A93CD4A84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5333" y="1302357"/>
            <a:ext cx="5323840" cy="45529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927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E393-2948-556A-EBA4-7117574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The "Dual-Scan" Proof Mechanism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A2141-394E-FBA8-CD00-E98B44FD52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Scan 1:The Carrier Image passes as "Clean" globally.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Scan 2: The Extracted Script flags as "Critical Malware" globally!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Proof that steganography works, and our tool solves it.</a:t>
            </a:r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8492E6-E1B6-4382-806F-48FFD417CF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04333"/>
            <a:ext cx="5323840" cy="44812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7393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23CF-EE34-F3C0-B601-D26CFD47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Automated Forensic Auditing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8B62-BA98-B4AC-5BA1-BC7E302100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Lato"/>
                <a:cs typeface="Lato"/>
              </a:rPr>
              <a:t>Security teams require strict legal evidence chains.</a:t>
            </a:r>
          </a:p>
          <a:p>
            <a:r>
              <a:rPr lang="en-US">
                <a:ea typeface="Lato"/>
                <a:cs typeface="Lato"/>
              </a:rPr>
              <a:t>The tool automatically compiles findings into sanitized CSV logs.</a:t>
            </a:r>
          </a:p>
          <a:p>
            <a:r>
              <a:rPr lang="en-US">
                <a:ea typeface="Lato"/>
                <a:cs typeface="Lato"/>
              </a:rPr>
              <a:t>Logs contain: File Hash, Timestamp, Threat Status, and Entropy Score.</a:t>
            </a:r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E351B6-375E-E5DE-FCCF-DECFD726AD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00866"/>
            <a:ext cx="5323840" cy="45050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5019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4DEB-94A1-CB4D-563B-1B84491C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E65235">
                        <a:lumMod val="70000"/>
                        <a:lumOff val="30000"/>
                      </a:srgbClr>
                    </a:gs>
                    <a:gs pos="35000">
                      <a:srgbClr val="E65235"/>
                    </a:gs>
                    <a:gs pos="100000">
                      <a:srgbClr val="E03835"/>
                    </a:gs>
                  </a:gsLst>
                  <a:lin ang="3000000" scaled="0"/>
                </a:gradFill>
                <a:ea typeface="+mj-lt"/>
                <a:cs typeface="+mj-lt"/>
              </a:rPr>
              <a:t>Conclusion &amp; Real-World Impact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6FE1-0206-47D5-4253-FF61B7554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Successfully exposes Signatureless Steganography.</a:t>
            </a:r>
            <a:endParaRPr lang="en-US">
              <a:ea typeface="Lato"/>
              <a:cs typeface="Lato"/>
            </a:endParaRPr>
          </a:p>
          <a:p>
            <a:r>
              <a:rPr lang="en-US">
                <a:ea typeface="+mn-lt"/>
                <a:cs typeface="+mn-lt"/>
              </a:rPr>
              <a:t>Combines Deep Pixel Math, Multi-threading, and API Web logic.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Scalable solution for corporate network security.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72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2"/>
  <p:tag name="KSO_WM_UNIT_INDEX" val="2"/>
  <p:tag name="KSO_WM_UNIT_LAYERLEVEL" val="1"/>
  <p:tag name="KSO_WM_UNIT_TYPE" val="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33482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33482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&#10;第二级&#10;第三级&#10;第四级&#10;第五级"/>
  <p:tag name="KSO_WM_UNIT_SUBTYPE" val="a"/>
  <p:tag name="KSO_WM_UNIT_TYPE" val="f"/>
  <p:tag name="KSO_WM_UNIT_VALUE" val="3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2"/>
  <p:tag name="KSO_WM_UNIT_INDEX" val="2"/>
  <p:tag name="KSO_WM_UNIT_LAYERLEVEL" val="1"/>
  <p:tag name="KSO_WM_UNIT_TYPE" val="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f*1"/>
  <p:tag name="KSO_WM_UNIT_INDEX" val="1"/>
  <p:tag name="KSO_WM_UNIT_LAYERLEVEL" val="1"/>
  <p:tag name="KSO_WM_UNIT_NOCLEAR" val="0"/>
  <p:tag name="KSO_WM_UNIT_PRESET_TEXT" val="署名占位符"/>
  <p:tag name="KSO_WM_UNIT_SUBTYPE" val="b"/>
  <p:tag name="KSO_WM_UNIT_TYPE" val="f"/>
  <p:tag name="KSO_WM_UNIT_VALUE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3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i*1"/>
  <p:tag name="KSO_WM_UNIT_INDEX" val="1"/>
  <p:tag name="KSO_WM_UNIT_LAYERLEVEL" val="1"/>
  <p:tag name="KSO_WM_UNIT_TYPE" val="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PRESET_TEXT" val="标题"/>
  <p:tag name="KSO_WM_UNIT_TYPE" val="a"/>
  <p:tag name="KSO_WM_UNIT_VALU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1"/>
  <p:tag name="KSO_WM_UNIT_INDEX" val="1"/>
  <p:tag name="KSO_WM_UNIT_LAYERLEVEL" val="1"/>
  <p:tag name="KSO_WM_UNIT_TYPE" val="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1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1"/>
  <p:tag name="KSO_WM_UNIT_DIAGRAM_ISNUMVISUAL" val="0"/>
  <p:tag name="KSO_WM_UNIT_DIAGRAM_ISREFERUNIT" val="0"/>
  <p:tag name="KSO_WM_UNIT_HIGHLIGHT" val="0"/>
  <p:tag name="KSO_WM_UNIT_ID" val="_4*e*1"/>
  <p:tag name="KSO_WM_UNIT_INDEX" val="1"/>
  <p:tag name="KSO_WM_UNIT_LAYERLEVEL" val="1"/>
  <p:tag name="KSO_WM_UNIT_NOCLEAR" val="0"/>
  <p:tag name="KSO_WM_UNIT_PRESET_TEXT" val="节编号"/>
  <p:tag name="KSO_WM_UNIT_TYPE" val="e"/>
  <p:tag name="KSO_WM_UNIT_VALUE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2"/>
  <p:tag name="KSO_WM_UNIT_INDEX" val="2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1_1"/>
  <p:tag name="KSO_WM_UNIT_INDEX" val="1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1_1"/>
  <p:tag name="KSO_WM_UNIT_INDEX" val="1_1"/>
  <p:tag name="KSO_WM_UNIT_LAYERLEVEL" val="1_1"/>
  <p:tag name="KSO_WM_UNIT_NOCLEAR" val="0"/>
  <p:tag name="KSO_WM_UNIT_PRESET_TEXT" val="单击此处编辑母版文本样式&#10;二级&#10;三级&#10;四级&#10;五级"/>
  <p:tag name="KSO_WM_UNIT_SUBTYPE" val="a"/>
  <p:tag name="KSO_WM_UNIT_TYPE" val="h_f"/>
  <p:tag name="KSO_WM_UNIT_VALUE" val="12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2_1"/>
  <p:tag name="KSO_WM_UNIT_INDEX" val="2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2_1"/>
  <p:tag name="KSO_WM_UNIT_INDEX" val="2_1"/>
  <p:tag name="KSO_WM_UNIT_LAYERLEVEL" val="1_1"/>
  <p:tag name="KSO_WM_UNIT_NOCLEAR" val="0"/>
  <p:tag name="KSO_WM_UNIT_PRESET_TEXT" val="单击此处编辑母版文本样式&#10;二级&#10;三级&#10;四级&#10;五级"/>
  <p:tag name="KSO_WM_UNIT_SUBTYPE" val="a"/>
  <p:tag name="KSO_WM_UNIT_TYPE" val="h_f"/>
  <p:tag name="KSO_WM_UNIT_VALUE" val="1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39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4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1"/>
  <p:tag name="KSO_WM_UNIT_INDEX" val="1"/>
  <p:tag name="KSO_WM_UNIT_LAYERLEVEL" val="1"/>
  <p:tag name="KSO_WM_UNIT_TYPE" val="i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  <p:tag name="KSO_WM_UNIT_NOCLEA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f*1"/>
  <p:tag name="KSO_WM_UNIT_INDEX" val="1"/>
  <p:tag name="KSO_WM_UNIT_LAYERLEVEL" val="1"/>
  <p:tag name="KSO_WM_UNIT_NOCLEAR" val="0"/>
  <p:tag name="KSO_WM_UNIT_PRESET_TEXT" val="署名占位符"/>
  <p:tag name="KSO_WM_UNIT_SUBTYPE" val="b"/>
  <p:tag name="KSO_WM_UNIT_TYPE" val="f"/>
  <p:tag name="KSO_WM_UNIT_VALUE" val="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33460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TEMPLATE_CATEGORY" val="custom"/>
  <p:tag name="KSO_WM_TEMPLATE_INDEX" val="20233460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1"/>
  <p:tag name="KSO_WM_UNIT_INDEX" val="1"/>
  <p:tag name="KSO_WM_UNIT_LAYERLEVEL" val="1"/>
  <p:tag name="KSO_WM_UNIT_TYPE" val="i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添加文档标题"/>
  <p:tag name="KSO_WM_UNIT_TYPE" val="a"/>
  <p:tag name="KSO_WM_UNIT_VALUE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文档副标题内容"/>
  <p:tag name="KSO_WM_UNIT_TYPE" val="b"/>
  <p:tag name="KSO_WM_UNIT_VALUE" val="1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1*f*1"/>
  <p:tag name="KSO_WM_UNIT_INDEX" val="1"/>
  <p:tag name="KSO_WM_UNIT_LAYERLEVEL" val="1"/>
  <p:tag name="KSO_WM_UNIT_NOCLEAR" val="0"/>
  <p:tag name="KSO_WM_UNIT_PRESET_TEXT" val="汇报人：稻小壳"/>
  <p:tag name="KSO_WM_UNIT_SUBTYPE" val="b"/>
  <p:tag name="KSO_WM_UNIT_TYPE" val="f"/>
  <p:tag name="KSO_WM_UNIT_VALUE" val="6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YPE" val="a"/>
  <p:tag name="KSO_WM_UNIT_VALUE" val="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84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i*1"/>
  <p:tag name="KSO_WM_UNIT_INDEX" val="1"/>
  <p:tag name="KSO_WM_UNIT_LAYERLEVEL" val="1"/>
  <p:tag name="KSO_WM_UNIT_TYPE" val="i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PRESET_TEXT" val="目录"/>
  <p:tag name="KSO_WM_UNIT_TYPE" val="a"/>
  <p:tag name="KSO_WM_UNIT_VALUE" val="1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1"/>
  <p:tag name="KSO_WM_UNIT_INDEX" val="1"/>
  <p:tag name="KSO_WM_UNIT_LAYERLEVEL" val="1"/>
  <p:tag name="KSO_WM_UNIT_TYPE" val="i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章节标题"/>
  <p:tag name="KSO_WM_UNIT_TYPE" val="a"/>
  <p:tag name="KSO_WM_UNIT_VALUE" val="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1"/>
  <p:tag name="KSO_WM_UNIT_INDEX" val="1"/>
  <p:tag name="KSO_WM_UNIT_LAYERLEVEL" val="1"/>
  <p:tag name="KSO_WM_UNIT_NOCLEAR" val="0"/>
  <p:tag name="KSO_WM_UNIT_PRESET_TEXT" val="单击此处编辑母版文本样式&#10;第二级&#10;第三级&#10;第四级&#10;第五级"/>
  <p:tag name="KSO_WM_UNIT_SUBTYPE" val="a"/>
  <p:tag name="KSO_WM_UNIT_TYPE" val="f"/>
  <p:tag name="KSO_WM_UNIT_VALUE" val="6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2"/>
  <p:tag name="KSO_WM_UNIT_INDEX" val="2"/>
  <p:tag name="KSO_WM_UNIT_LAYERLEVEL" val="1"/>
  <p:tag name="KSO_WM_UNIT_NOCLEAR" val="0"/>
  <p:tag name="KSO_WM_UNIT_PRESET_TEXT" val="单击此处编辑母版文本样式&#10;第二级&#10;第三级&#10;第四级&#10;第五级"/>
  <p:tag name="KSO_WM_UNIT_SUBTYPE" val="a"/>
  <p:tag name="KSO_WM_UNIT_TYPE" val="f"/>
  <p:tag name="KSO_WM_UNIT_VALUE" val="6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5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正文页-预设标题"/>
  <p:tag name="KSO_WM_UNIT_TYPE" val="a"/>
  <p:tag name="KSO_WM_UNIT_VALUE" val="1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2_1"/>
  <p:tag name="KSO_WM_UNIT_INDEX" val="2_1"/>
  <p:tag name="KSO_WM_UNIT_LAYERLEVEL" val="1_1"/>
  <p:tag name="KSO_WM_UNIT_NOCLEAR" val="0"/>
  <p:tag name="KSO_WM_UNIT_PRESET_TEXT" val="单击此处编辑母版文本样式&#10;第二级&#10;第三级&#10;第四级&#10;第五级"/>
  <p:tag name="KSO_WM_UNIT_SUBTYPE" val="a"/>
  <p:tag name="KSO_WM_UNIT_TYPE" val="h_f"/>
  <p:tag name="KSO_WM_UNIT_VALUE" val="6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2_1"/>
  <p:tag name="KSO_WM_UNIT_INDEX" val="2_1"/>
  <p:tag name="KSO_WM_UNIT_ISCONTENTSTITLE" val="0"/>
  <p:tag name="KSO_WM_UNIT_ISNUMDGMTITLE" val="0"/>
  <p:tag name="KSO_WM_UNIT_LAYERLEVEL" val="1_1"/>
  <p:tag name="KSO_WM_UNIT_NOCLEAR" val="0"/>
  <p:tag name="KSO_WM_UNIT_PRESET_TEXT" val="添加小标题"/>
  <p:tag name="KSO_WM_UNIT_TYPE" val="h_a"/>
  <p:tag name="KSO_WM_UNIT_VALUE" val="1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1_1"/>
  <p:tag name="KSO_WM_UNIT_INDEX" val="1_1"/>
  <p:tag name="KSO_WM_UNIT_LAYERLEVEL" val="1_1"/>
  <p:tag name="KSO_WM_UNIT_NOCLEAR" val="0"/>
  <p:tag name="KSO_WM_UNIT_PRESET_TEXT" val="单击此处编辑母版文本样式&#10;第二级&#10;第三级&#10;第四级&#10;第五级"/>
  <p:tag name="KSO_WM_UNIT_SUBTYPE" val="a"/>
  <p:tag name="KSO_WM_UNIT_TYPE" val="h_f"/>
  <p:tag name="KSO_WM_UNIT_VALUE" val="6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1_1"/>
  <p:tag name="KSO_WM_UNIT_INDEX" val="1_1"/>
  <p:tag name="KSO_WM_UNIT_ISCONTENTSTITLE" val="0"/>
  <p:tag name="KSO_WM_UNIT_ISNUMDGMTITLE" val="0"/>
  <p:tag name="KSO_WM_UNIT_LAYERLEVEL" val="1_1"/>
  <p:tag name="KSO_WM_UNIT_NOCLEAR" val="0"/>
  <p:tag name="KSO_WM_UNIT_PRESET_TEXT" val="添加小标题"/>
  <p:tag name="KSO_WM_UNIT_TYPE" val="h_a"/>
  <p:tag name="KSO_WM_UNIT_VALUE" val="1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6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正文页-预设标题"/>
  <p:tag name="KSO_WM_UNIT_TYPE" val="a"/>
  <p:tag name="KSO_WM_UNIT_VALUE" val="1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正文页-预设标题"/>
  <p:tag name="KSO_WM_UNIT_TYPE" val="a"/>
  <p:tag name="KSO_WM_UNIT_VALUE" val="1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f*1"/>
  <p:tag name="KSO_WM_UNIT_INDEX" val="1"/>
  <p:tag name="KSO_WM_UNIT_LAYERLEVEL" val="1"/>
  <p:tag name="KSO_WM_UNIT_NOCLEAR" val="0"/>
  <p:tag name="KSO_WM_UNIT_PRESET_TEXT" val="单击此处编辑母版文本样式&#10;第二级&#10;第三级&#10;第四级&#10;第五级"/>
  <p:tag name="KSO_WM_UNIT_SUBTYPE" val="a"/>
  <p:tag name="KSO_WM_UNIT_TYPE" val="f"/>
  <p:tag name="KSO_WM_UNIT_VALUE" val="6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10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LACING_PICTURE_USER_VIEWPORT" val="{&quot;height&quot;:752,&quot;width&quot;:17274}"/>
  <p:tag name="KSO_WM_UNIT_PRESET_TEXT" val="单击此处添加副标题"/>
  <p:tag name="KSO_WM_UNIT_TYPE" val="b"/>
  <p:tag name="KSO_WM_UNIT_VALUE" val="1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titlestyle"/>
  <p:tag name="KSO_WM_UNIT_DIAGRAM_ISNUMVISUAL" val="0"/>
  <p:tag name="KSO_WM_UNIT_DIAGRAM_ISREFERUNIT" val="0"/>
  <p:tag name="KSO_WM_UNIT_HIGHLIGHT" val="0"/>
  <p:tag name="KSO_WM_UNIT_ID" val="_1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正文页-预设标题"/>
  <p:tag name="KSO_WM_UNIT_TYPE" val="a"/>
  <p:tag name="KSO_WM_UNIT_VALUE" val="1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1"/>
  <p:tag name="KSO_WM_UNIT_INDEX" val="1"/>
  <p:tag name="KSO_WM_UNIT_LAYERLEVEL" val="1"/>
  <p:tag name="KSO_WM_UNIT_TYPE" val="i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1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感谢您的耐心观看"/>
  <p:tag name="KSO_WM_UNIT_TYPE" val="a"/>
  <p:tag name="KSO_WM_UNIT_VALUE" val="1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CONTENT_GROUP_TYPE" val="contentchip"/>
  <p:tag name="KSO_WM_UNIT_DIAGRAM_ISNUMVISUAL" val="0"/>
  <p:tag name="KSO_WM_UNIT_DIAGRAM_ISREFERUNIT" val="0"/>
  <p:tag name="KSO_WM_UNIT_HIGHLIGHT" val="0"/>
  <p:tag name="KSO_WM_UNIT_ID" val="_11*f*1"/>
  <p:tag name="KSO_WM_UNIT_INDEX" val="1"/>
  <p:tag name="KSO_WM_UNIT_LAYERLEVEL" val="1"/>
  <p:tag name="KSO_WM_UNIT_NOCLEAR" val="0"/>
  <p:tag name="KSO_WM_UNIT_PRESET_TEXT" val="汇报人：稻小壳"/>
  <p:tag name="KSO_WM_UNIT_SUBTYPE" val="b"/>
  <p:tag name="KSO_WM_UNIT_TYPE" val="f"/>
  <p:tag name="KSO_WM_UNIT_VALUE" val="6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i*1"/>
  <p:tag name="KSO_WM_UNIT_INDEX" val="1"/>
  <p:tag name="KSO_WM_UNIT_LAYERLEVEL" val="1"/>
  <p:tag name="KSO_WM_UNIT_TYPE" val="i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37990"/>
  <p:tag name="KSO_WM_UNIT_COMPATIBLE" val="0"/>
  <p:tag name="KSO_WM_UNIT_DIAGRAM_ISNUMVISUAL" val="0"/>
  <p:tag name="KSO_WM_UNIT_DIAGRAM_ISREFERUNIT" val="0"/>
  <p:tag name="KSO_WM_UNIT_HIGHLIGHT" val="0"/>
  <p:tag name="KSO_WM_UNIT_ID" val="_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37990"/>
  <p:tag name="KSO_WM_UNIT_COMPATIBLE" val="0"/>
  <p:tag name="KSO_WM_UNIT_DIAGRAM_ISNUMVISUAL" val="0"/>
  <p:tag name="KSO_WM_UNIT_DIAGRAM_ISREFERUNIT" val="0"/>
  <p:tag name="KSO_WM_UNIT_HIGHLIGHT" val="0"/>
  <p:tag name="KSO_WM_UNIT_ID" val="_0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PECIAL_SOURCE" val="bdnull"/>
  <p:tag name="KSO_WM_TAG_VERSION" val="3.0"/>
  <p:tag name="KSO_WM_TEMPLATE_CATEGORY" val="custom"/>
  <p:tag name="KSO_WM_TEMPLATE_COLOR_TYPE" val="0"/>
  <p:tag name="KSO_WM_TEMPLATE_INDEX" val="20237990"/>
  <p:tag name="KSO_WM_TEMPLATE_MASTER_TYPE" val="0"/>
  <p:tag name="KSO_WM_TEMPLATE_SUBCATEGORY" val="29"/>
  <p:tag name="KSO_WM_TEMPLATE_THUMBS_INDEX" val="1、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1"/>
  <p:tag name="KSO_WM_UNIT_INDEX" val="1"/>
  <p:tag name="KSO_WM_UNIT_LAYERLEVEL" val="1"/>
  <p:tag name="KSO_WM_UNIT_TYPE" val="i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2"/>
  <p:tag name="KSO_WM_UNIT_INDEX" val="2"/>
  <p:tag name="KSO_WM_UNIT_LAYERLEVEL" val="1"/>
  <p:tag name="KSO_WM_UNIT_TYPE" val="i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3"/>
  <p:tag name="KSO_WM_UNIT_INDEX" val="3"/>
  <p:tag name="KSO_WM_UNIT_LAYERLEVEL" val="1"/>
  <p:tag name="KSO_WM_UNIT_TYPE" val="i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8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f*1"/>
  <p:tag name="KSO_WM_UNIT_INDEX" val="1"/>
  <p:tag name="KSO_WM_UNIT_LAYERLEVEL" val="1"/>
  <p:tag name="KSO_WM_UNIT_NOCLEAR" val="0"/>
  <p:tag name="KSO_WM_UNIT_PRESET_TEXT" val="公司名占位符"/>
  <p:tag name="KSO_WM_UNIT_SUBTYPE" val="g"/>
  <p:tag name="KSO_WM_UNIT_TYPE" val="f"/>
  <p:tag name="KSO_WM_UNIT_VALUE" val="96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f*2"/>
  <p:tag name="KSO_WM_UNIT_INDEX" val="2"/>
  <p:tag name="KSO_WM_UNIT_LAYERLEVEL" val="1"/>
  <p:tag name="KSO_WM_UNIT_NOCLEAR" val="0"/>
  <p:tag name="KSO_WM_UNIT_PRESET_TEXT" val="署名占位符"/>
  <p:tag name="KSO_WM_UNIT_SUBTYPE" val="b"/>
  <p:tag name="KSO_WM_UNIT_TYPE" val="f"/>
  <p:tag name="KSO_WM_UNIT_VALUE" val="8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*i*4"/>
  <p:tag name="KSO_WM_UNIT_INDEX" val="4"/>
  <p:tag name="KSO_WM_UNIT_LAYERLEVEL" val="1"/>
  <p:tag name="KSO_WM_UNIT_TYPE" val="i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i*1"/>
  <p:tag name="KSO_WM_UNIT_INDEX" val="1"/>
  <p:tag name="KSO_WM_UNIT_LAYERLEVEL" val="1"/>
  <p:tag name="KSO_WM_UNIT_TYPE" val="i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33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i*1"/>
  <p:tag name="KSO_WM_UNIT_INDEX" val="1"/>
  <p:tag name="KSO_WM_UNIT_LAYERLEVEL" val="1"/>
  <p:tag name="KSO_WM_UNIT_TYPE" val="i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PRESET_TEXT" val="标题"/>
  <p:tag name="KSO_WM_UNIT_TYPE" val="a"/>
  <p:tag name="KSO_WM_UNIT_VALUE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1"/>
  <p:tag name="KSO_WM_UNIT_INDEX" val="1"/>
  <p:tag name="KSO_WM_UNIT_LAYERLEVEL" val="1"/>
  <p:tag name="KSO_WM_UNIT_TYPE" val="i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2"/>
  <p:tag name="KSO_WM_UNIT_INDEX" val="2"/>
  <p:tag name="KSO_WM_UNIT_LAYERLEVEL" val="1"/>
  <p:tag name="KSO_WM_UNIT_TYPE" val="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3"/>
  <p:tag name="KSO_WM_UNIT_INDEX" val="3"/>
  <p:tag name="KSO_WM_UNIT_LAYERLEVEL" val="1"/>
  <p:tag name="KSO_WM_UNIT_TYPE" val="i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4"/>
  <p:tag name="KSO_WM_UNIT_INDEX" val="4"/>
  <p:tag name="KSO_WM_UNIT_LAYERLEVEL" val="1"/>
  <p:tag name="KSO_WM_UNIT_TYPE" val="i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5"/>
  <p:tag name="KSO_WM_UNIT_INDEX" val="5"/>
  <p:tag name="KSO_WM_UNIT_LAYERLEVEL" val="1"/>
  <p:tag name="KSO_WM_UNIT_TYPE" val="i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1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1"/>
  <p:tag name="KSO_WM_UNIT_DIAGRAM_ISNUMVISUAL" val="0"/>
  <p:tag name="KSO_WM_UNIT_DIAGRAM_ISREFERUNIT" val="0"/>
  <p:tag name="KSO_WM_UNIT_HIGHLIGHT" val="0"/>
  <p:tag name="KSO_WM_UNIT_ID" val="_4*e*1"/>
  <p:tag name="KSO_WM_UNIT_INDEX" val="1"/>
  <p:tag name="KSO_WM_UNIT_LAYERLEVEL" val="1"/>
  <p:tag name="KSO_WM_UNIT_NOCLEAR" val="0"/>
  <p:tag name="KSO_WM_UNIT_PRESET_TEXT" val="节编号"/>
  <p:tag name="KSO_WM_UNIT_TYPE" val="e"/>
  <p:tag name="KSO_WM_UNIT_VALUE" val="1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16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f*2"/>
  <p:tag name="KSO_WM_UNIT_INDEX" val="2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16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1_1"/>
  <p:tag name="KSO_WM_UNIT_INDEX" val="1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1_1"/>
  <p:tag name="KSO_WM_UNIT_INDEX" val="1_1"/>
  <p:tag name="KSO_WM_UNIT_LAYERLEVEL" val="1_1"/>
  <p:tag name="KSO_WM_UNIT_NOCLEAR" val="0"/>
  <p:tag name="KSO_WM_UNIT_PRESET_TEXT" val="单击此处编辑母版文本样式&#10;二级&#10;三级&#10;四级&#10;五级"/>
  <p:tag name="KSO_WM_UNIT_SUBTYPE" val="a"/>
  <p:tag name="KSO_WM_UNIT_TYPE" val="h_f"/>
  <p:tag name="KSO_WM_UNIT_VALUE" val="12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a*2_1"/>
  <p:tag name="KSO_WM_UNIT_INDEX" val="2_1"/>
  <p:tag name="KSO_WM_UNIT_ISCONTENTSTITLE" val="0"/>
  <p:tag name="KSO_WM_UNIT_ISNUMDGMTITLE" val="0"/>
  <p:tag name="KSO_WM_UNIT_LAYERLEVEL" val="1_1"/>
  <p:tag name="KSO_WM_UNIT_NOCLEAR" val="0"/>
  <p:tag name="KSO_WM_UNIT_PRESET_TEXT" val="单击此处编辑母版文本样式"/>
  <p:tag name="KSO_WM_UNIT_TYPE" val="h_a"/>
  <p:tag name="KSO_WM_UNIT_VALUE" val="1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h_f*2_1"/>
  <p:tag name="KSO_WM_UNIT_INDEX" val="2_1"/>
  <p:tag name="KSO_WM_UNIT_LAYERLEVEL" val="1_1"/>
  <p:tag name="KSO_WM_UNIT_NOCLEAR" val="0"/>
  <p:tag name="KSO_WM_UNIT_PRESET_TEXT" val="单击此处编辑母版文本样式&#10;二级&#10;三级&#10;四级&#10;五级"/>
  <p:tag name="KSO_WM_UNIT_SUBTYPE" val="a"/>
  <p:tag name="KSO_WM_UNIT_TYPE" val="h_f"/>
  <p:tag name="KSO_WM_UNIT_VALUE" val="12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f*1"/>
  <p:tag name="KSO_WM_UNIT_INDEX" val="1"/>
  <p:tag name="KSO_WM_UNIT_LAYERLEVEL" val="1"/>
  <p:tag name="KSO_WM_UNIT_NOCLEAR" val="0"/>
  <p:tag name="KSO_WM_UNIT_PRESET_TEXT" val="单击此处编辑母版文本样式&#10;二级&#10;三级&#10;四级&#10;五级"/>
  <p:tag name="KSO_WM_UNIT_SUBTYPE" val="a"/>
  <p:tag name="KSO_WM_UNIT_TYPE" val="f"/>
  <p:tag name="KSO_WM_UNIT_VALUE" val="39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2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副标题样式"/>
  <p:tag name="KSO_WM_UNIT_TYPE" val="b"/>
  <p:tag name="KSO_WM_UNIT_VALUE" val="4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1"/>
  <p:tag name="KSO_WM_UNIT_INDEX" val="1"/>
  <p:tag name="KSO_WM_UNIT_LAYERLEVEL" val="1"/>
  <p:tag name="KSO_WM_UNIT_TYPE" val="i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2"/>
  <p:tag name="KSO_WM_UNIT_INDEX" val="2"/>
  <p:tag name="KSO_WM_UNIT_LAYERLEVEL" val="1"/>
  <p:tag name="KSO_WM_UNIT_TYPE" val="i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3"/>
  <p:tag name="KSO_WM_UNIT_INDEX" val="3"/>
  <p:tag name="KSO_WM_UNIT_LAYERLEVEL" val="1"/>
  <p:tag name="KSO_WM_UNIT_TYPE" val="i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编辑母版标题样式"/>
  <p:tag name="KSO_WM_UNIT_TYPE" val="a"/>
  <p:tag name="KSO_WM_UNIT_VALUE" val="3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  <p:tag name="KSO_WM_UNIT_NOCLEA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f*1"/>
  <p:tag name="KSO_WM_UNIT_INDEX" val="1"/>
  <p:tag name="KSO_WM_UNIT_LAYERLEVEL" val="1"/>
  <p:tag name="KSO_WM_UNIT_NOCLEAR" val="0"/>
  <p:tag name="KSO_WM_UNIT_PRESET_TEXT" val="公司名占位符"/>
  <p:tag name="KSO_WM_UNIT_SUBTYPE" val="g"/>
  <p:tag name="KSO_WM_UNIT_TYPE" val="f"/>
  <p:tag name="KSO_WM_UNIT_VALUE" val="96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f*2"/>
  <p:tag name="KSO_WM_UNIT_INDEX" val="2"/>
  <p:tag name="KSO_WM_UNIT_LAYERLEVEL" val="1"/>
  <p:tag name="KSO_WM_UNIT_NOCLEAR" val="0"/>
  <p:tag name="KSO_WM_UNIT_PRESET_TEXT" val="署名占位符"/>
  <p:tag name="KSO_WM_UNIT_SUBTYPE" val="b"/>
  <p:tag name="KSO_WM_UNIT_TYPE" val="f"/>
  <p:tag name="KSO_WM_UNIT_VALUE" val="8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11*i*4"/>
  <p:tag name="KSO_WM_UNIT_INDEX" val="4"/>
  <p:tag name="KSO_WM_UNIT_LAYERLEVEL" val="1"/>
  <p:tag name="KSO_WM_UNIT_TYPE" val="i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THEME_ID" val="3312678"/>
  <p:tag name="KSO_WM_SLIDE_THEME_NAME" val="Red Minimalist"/>
  <p:tag name="KSO_WM_SLIDE_TYPE" val="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YPE" val="j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2"/>
  <p:tag name="KSO_WM_UNIT_SUBTYPE" val="a"/>
  <p:tag name="KSO_WM_UNIT_TYPE" val="f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3"/>
  <p:tag name="KSO_WM_UNIT_SUBTYPE" val="a"/>
  <p:tag name="KSO_WM_UNIT_TYPE" val="f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9"/>
  <p:tag name="KSO_WM_UNIT_SUBTYPE" val="a"/>
  <p:tag name="KSO_WM_UNIT_TYPE" val="f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1"/>
  <p:tag name="KSO_WM_UNIT_SUBTYPE" val="a"/>
  <p:tag name="KSO_WM_UNIT_TYPE" val="f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3"/>
  <p:tag name="KSO_WM_UNIT_SUBTYPE" val="a"/>
  <p:tag name="KSO_WM_UNIT_TYPE" val="f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4"/>
  <p:tag name="KSO_WM_UNIT_SUBTYPE" val="a"/>
  <p:tag name="KSO_WM_UNIT_TYPE" val="f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5"/>
  <p:tag name="KSO_WM_UNIT_SUBTYPE" val="a"/>
  <p:tag name="KSO_WM_UNIT_TYPE" val="f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66">
      <a:dk1>
        <a:sysClr val="windowText" lastClr="000000"/>
      </a:dk1>
      <a:lt1>
        <a:sysClr val="window" lastClr="FFFFFF"/>
      </a:lt1>
      <a:dk2>
        <a:srgbClr val="3D4842"/>
      </a:dk2>
      <a:lt2>
        <a:srgbClr val="E5E8E6"/>
      </a:lt2>
      <a:accent1>
        <a:srgbClr val="7D9085"/>
      </a:accent1>
      <a:accent2>
        <a:srgbClr val="8B7D74"/>
      </a:accent2>
      <a:accent3>
        <a:srgbClr val="996A64"/>
      </a:accent3>
      <a:accent4>
        <a:srgbClr val="A75853"/>
      </a:accent4>
      <a:accent5>
        <a:srgbClr val="B54543"/>
      </a:accent5>
      <a:accent6>
        <a:srgbClr val="C33232"/>
      </a:accent6>
      <a:hlink>
        <a:srgbClr val="658BD5"/>
      </a:hlink>
      <a:folHlink>
        <a:srgbClr val="A16AA5"/>
      </a:folHlink>
    </a:clrScheme>
    <a:fontScheme name="Crimson Text SemiBold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Gear Drives</vt:lpstr>
      <vt:lpstr>Office Theme</vt:lpstr>
      <vt:lpstr>1_Office Theme</vt:lpstr>
      <vt:lpstr>2_Office Theme</vt:lpstr>
      <vt:lpstr>PowerPoint Presentation</vt:lpstr>
      <vt:lpstr> The Critical Blindspot in Cyber Security</vt:lpstr>
      <vt:lpstr>Hiding in Plain Sight </vt:lpstr>
      <vt:lpstr>The Three Pillars of the Project</vt:lpstr>
      <vt:lpstr>Least Significant Bit (LSB) Extraction </vt:lpstr>
      <vt:lpstr>The "EOF" Marker Logic</vt:lpstr>
      <vt:lpstr>Shannon Entropy Detection </vt:lpstr>
      <vt:lpstr>A Professional Analyst Dashboard</vt:lpstr>
      <vt:lpstr>Built to Handle Stress</vt:lpstr>
      <vt:lpstr>The VirusTotal API Integration</vt:lpstr>
      <vt:lpstr>The "Dual-Scan" Proof Mechanism</vt:lpstr>
      <vt:lpstr>Automated Forensic Auditing</vt:lpstr>
      <vt:lpstr>Conclusion &amp; Real-World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B.E Project Seminar 2025-2026</dc:title>
  <dc:creator>Lenovo</dc:creator>
  <cp:revision>4</cp:revision>
  <dcterms:created xsi:type="dcterms:W3CDTF">2025-07-27T17:51:00Z</dcterms:created>
  <dcterms:modified xsi:type="dcterms:W3CDTF">2026-04-29T02:25:24Z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D6CDEF36CF94454F89A53F66A1B4424A_13</vt:lpwstr>
  </property>
  <property fmtid="{D5CDD505-2E9C-101B-9397-08002B2CF9AE}" pid="3" name="KSOProductBuildVer">
    <vt:lpwstr>1033-12.1.0.25830</vt:lpwstr>
  </property>
</Properties>
</file>